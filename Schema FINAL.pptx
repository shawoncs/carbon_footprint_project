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98" y="54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034982" y="81914"/>
            <a:ext cx="7955915" cy="776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u="sng" dirty="0">
                <a:latin typeface="Arial Black" panose="020B0A04020102020204" charset="0"/>
                <a:cs typeface="Arial Black" panose="020B0A04020102020204" charset="0"/>
                <a:sym typeface="+mn-ea"/>
              </a:rPr>
              <a:t>Carbon Footprint &amp; Sustainability Tracker Database</a:t>
            </a:r>
            <a:endParaRPr lang="en-US" b="1" u="sng" dirty="0">
              <a:latin typeface="Arial Black" panose="020B0A04020102020204" charset="0"/>
              <a:cs typeface="Arial Black" panose="020B0A04020102020204" charset="0"/>
            </a:endParaRPr>
          </a:p>
          <a:p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830580" y="1304290"/>
            <a:ext cx="1338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282575" y="499109"/>
            <a:ext cx="1807209" cy="17119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80000"/>
              </a:lnSpc>
            </a:pPr>
            <a:endParaRPr lang="en-US" sz="1400" u="sng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400" u="sng" dirty="0">
                <a:solidFill>
                  <a:schemeClr val="tx1"/>
                </a:solidFill>
              </a:rPr>
              <a:t>reward_id </a:t>
            </a:r>
            <a:r>
              <a:rPr lang="en-US" sz="1400" dirty="0">
                <a:solidFill>
                  <a:schemeClr val="tx1"/>
                </a:solidFill>
              </a:rPr>
              <a:t>     (PK)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</a:rPr>
              <a:t>reward_name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</a:rPr>
              <a:t>points_required</a:t>
            </a:r>
          </a:p>
        </p:txBody>
      </p:sp>
      <p:sp>
        <p:nvSpPr>
          <p:cNvPr id="7" name="Rectangles 6"/>
          <p:cNvSpPr/>
          <p:nvPr/>
        </p:nvSpPr>
        <p:spPr>
          <a:xfrm>
            <a:off x="1362074" y="2900676"/>
            <a:ext cx="1832933" cy="16103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USER_REWARD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l"/>
            <a:r>
              <a:rPr lang="en-US" sz="1400" u="sng" dirty="0">
                <a:solidFill>
                  <a:schemeClr val="tx1"/>
                </a:solidFill>
              </a:rPr>
              <a:t>user_reward_id</a:t>
            </a:r>
            <a:r>
              <a:rPr lang="en-US" sz="1400" dirty="0">
                <a:solidFill>
                  <a:schemeClr val="tx1"/>
                </a:solidFill>
              </a:rPr>
              <a:t>  (PK)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user_id                 (FK)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reward_id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claim_date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89560" y="4743450"/>
            <a:ext cx="1708150" cy="19621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u="sng" dirty="0">
              <a:solidFill>
                <a:schemeClr val="tx1"/>
              </a:solidFill>
            </a:endParaRPr>
          </a:p>
          <a:p>
            <a:endParaRPr lang="en-US" sz="1400" u="sng" dirty="0">
              <a:solidFill>
                <a:schemeClr val="tx1"/>
              </a:solidFill>
            </a:endParaRPr>
          </a:p>
          <a:p>
            <a:r>
              <a:rPr lang="en-US" sz="1400" u="sng" dirty="0" err="1">
                <a:solidFill>
                  <a:schemeClr val="tx1"/>
                </a:solidFill>
              </a:rPr>
              <a:t>report_id</a:t>
            </a:r>
            <a:r>
              <a:rPr lang="en-US" sz="1400" u="sng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   (PK)</a:t>
            </a:r>
          </a:p>
          <a:p>
            <a:r>
              <a:rPr lang="en-US" sz="1400" dirty="0">
                <a:solidFill>
                  <a:schemeClr val="tx1"/>
                </a:solidFill>
              </a:rPr>
              <a:t>user_id       (FK)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report_month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total_emission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2468880" y="525020"/>
            <a:ext cx="1915159" cy="2139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endParaRPr lang="en-US" dirty="0"/>
          </a:p>
          <a:p>
            <a:pPr algn="ctr">
              <a:lnSpc>
                <a:spcPct val="50000"/>
              </a:lnSpc>
            </a:pPr>
            <a:endParaRPr lang="en-US" sz="1600" b="1" dirty="0">
              <a:solidFill>
                <a:schemeClr val="tx1"/>
              </a:solidFill>
            </a:endParaRPr>
          </a:p>
          <a:p>
            <a:pPr algn="ctr">
              <a:lnSpc>
                <a:spcPct val="50000"/>
              </a:lnSpc>
            </a:pPr>
            <a:endParaRPr lang="en-US" b="1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endParaRPr lang="en-US" sz="1400" u="sng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endParaRPr lang="en-US" sz="1400" u="sng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endParaRPr lang="en-US" sz="1400" u="sng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r>
              <a:rPr lang="en-US" sz="1400" u="sng" dirty="0">
                <a:solidFill>
                  <a:schemeClr val="tx1"/>
                </a:solidFill>
              </a:rPr>
              <a:t>goal_id</a:t>
            </a:r>
            <a:r>
              <a:rPr lang="en-US" sz="1400" dirty="0">
                <a:solidFill>
                  <a:schemeClr val="tx1"/>
                </a:solidFill>
              </a:rPr>
              <a:t>(PK)</a:t>
            </a:r>
          </a:p>
          <a:p>
            <a:pPr algn="l">
              <a:lnSpc>
                <a:spcPct val="7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r>
              <a:rPr lang="en-US" sz="1400" dirty="0" err="1">
                <a:solidFill>
                  <a:schemeClr val="tx1"/>
                </a:solidFill>
              </a:rPr>
              <a:t>user_id</a:t>
            </a:r>
            <a:r>
              <a:rPr lang="en-US" sz="1400" dirty="0">
                <a:solidFill>
                  <a:schemeClr val="tx1"/>
                </a:solidFill>
              </a:rPr>
              <a:t>(FK)</a:t>
            </a:r>
          </a:p>
          <a:p>
            <a:pPr algn="l">
              <a:lnSpc>
                <a:spcPct val="7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r>
              <a:rPr lang="en-US" sz="1400" dirty="0">
                <a:solidFill>
                  <a:schemeClr val="tx1"/>
                </a:solidFill>
              </a:rPr>
              <a:t>goal_name</a:t>
            </a:r>
          </a:p>
          <a:p>
            <a:pPr algn="l">
              <a:lnSpc>
                <a:spcPct val="7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r>
              <a:rPr lang="en-US" sz="1400" dirty="0" err="1">
                <a:solidFill>
                  <a:schemeClr val="tx1"/>
                </a:solidFill>
              </a:rPr>
              <a:t>target_value</a:t>
            </a: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r>
              <a:rPr lang="en-US" sz="1400" dirty="0" err="1">
                <a:solidFill>
                  <a:schemeClr val="tx1"/>
                </a:solidFill>
              </a:rPr>
              <a:t>start_date</a:t>
            </a: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r>
              <a:rPr lang="en-US" sz="1400" dirty="0" err="1">
                <a:solidFill>
                  <a:schemeClr val="tx1"/>
                </a:solidFill>
              </a:rPr>
              <a:t>end_date</a:t>
            </a:r>
            <a:endParaRPr lang="en-US" sz="1400" dirty="0">
              <a:solidFill>
                <a:schemeClr val="tx1"/>
              </a:solidFill>
            </a:endParaRPr>
          </a:p>
          <a:p>
            <a:pPr algn="l">
              <a:lnSpc>
                <a:spcPct val="70000"/>
              </a:lnSpc>
            </a:pP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0" name="Rectangles 9"/>
          <p:cNvSpPr/>
          <p:nvPr/>
        </p:nvSpPr>
        <p:spPr>
          <a:xfrm>
            <a:off x="2785744" y="4523105"/>
            <a:ext cx="1467485" cy="1135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REPORT_GOALS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u="sng" dirty="0" err="1">
                <a:solidFill>
                  <a:schemeClr val="tx1"/>
                </a:solidFill>
              </a:rPr>
              <a:t>report_id</a:t>
            </a:r>
            <a:r>
              <a:rPr lang="en-US" sz="1400" u="sng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    (FK)</a:t>
            </a:r>
          </a:p>
          <a:p>
            <a:r>
              <a:rPr lang="en-US" sz="1400" u="sng" dirty="0">
                <a:solidFill>
                  <a:schemeClr val="tx1"/>
                </a:solidFill>
              </a:rPr>
              <a:t>goal_id</a:t>
            </a:r>
            <a:r>
              <a:rPr lang="en-US" sz="1400" dirty="0">
                <a:solidFill>
                  <a:schemeClr val="tx1"/>
                </a:solidFill>
              </a:rPr>
              <a:t>         (FK)</a:t>
            </a:r>
          </a:p>
          <a:p>
            <a:endParaRPr lang="en-US" sz="1400" u="sng" dirty="0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066030" y="922020"/>
            <a:ext cx="1581150" cy="1403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sym typeface="+mn-ea"/>
              </a:rPr>
              <a:t>EMISSION_LOG</a:t>
            </a:r>
          </a:p>
          <a:p>
            <a:pPr algn="ctr"/>
            <a:endParaRPr lang="en-US" sz="1400" u="sng" dirty="0">
              <a:solidFill>
                <a:schemeClr val="tx1"/>
              </a:solidFill>
              <a:sym typeface="+mn-ea"/>
            </a:endParaRPr>
          </a:p>
          <a:p>
            <a:r>
              <a:rPr lang="en-US" sz="1400" u="sng" dirty="0">
                <a:solidFill>
                  <a:schemeClr val="tx1"/>
                </a:solidFill>
                <a:sym typeface="+mn-ea"/>
              </a:rPr>
              <a:t>log_id </a:t>
            </a:r>
            <a:r>
              <a:rPr lang="en-US" sz="1400" dirty="0">
                <a:solidFill>
                  <a:schemeClr val="tx1"/>
                </a:solidFill>
                <a:sym typeface="+mn-ea"/>
              </a:rPr>
              <a:t>(PK) (FK)</a:t>
            </a:r>
          </a:p>
          <a:p>
            <a:r>
              <a:rPr lang="en-US" sz="1400" dirty="0">
                <a:solidFill>
                  <a:schemeClr val="tx1"/>
                </a:solidFill>
                <a:sym typeface="+mn-ea"/>
              </a:rPr>
              <a:t>CO2_emission</a:t>
            </a:r>
          </a:p>
          <a:p>
            <a:pPr algn="ctr"/>
            <a:endParaRPr 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318441" y="2645725"/>
            <a:ext cx="1538605" cy="15474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USERS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u="sng" dirty="0">
                <a:solidFill>
                  <a:schemeClr val="tx1"/>
                </a:solidFill>
              </a:rPr>
              <a:t>user_id</a:t>
            </a:r>
            <a:r>
              <a:rPr lang="en-US" sz="1400" dirty="0">
                <a:solidFill>
                  <a:schemeClr val="tx1"/>
                </a:solidFill>
              </a:rPr>
              <a:t>             (PK)</a:t>
            </a:r>
          </a:p>
          <a:p>
            <a:r>
              <a:rPr lang="en-US" sz="1400" dirty="0">
                <a:solidFill>
                  <a:schemeClr val="tx1"/>
                </a:solidFill>
              </a:rPr>
              <a:t>name</a:t>
            </a:r>
          </a:p>
          <a:p>
            <a:r>
              <a:rPr lang="en-US" sz="1400" dirty="0">
                <a:solidFill>
                  <a:schemeClr val="tx1"/>
                </a:solidFill>
              </a:rPr>
              <a:t>email</a:t>
            </a:r>
          </a:p>
          <a:p>
            <a:r>
              <a:rPr lang="en-US" sz="1400" dirty="0">
                <a:solidFill>
                  <a:schemeClr val="tx1"/>
                </a:solidFill>
              </a:rPr>
              <a:t>location</a:t>
            </a:r>
          </a:p>
          <a:p>
            <a:r>
              <a:rPr lang="en-US" sz="1400" dirty="0">
                <a:solidFill>
                  <a:schemeClr val="tx1"/>
                </a:solidFill>
              </a:rPr>
              <a:t>join_date</a:t>
            </a:r>
          </a:p>
        </p:txBody>
      </p:sp>
      <p:sp>
        <p:nvSpPr>
          <p:cNvPr id="13" name="Rectangles 12"/>
          <p:cNvSpPr/>
          <p:nvPr/>
        </p:nvSpPr>
        <p:spPr>
          <a:xfrm>
            <a:off x="5297806" y="4641215"/>
            <a:ext cx="1722120" cy="16808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DONATIONS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sz="1400" u="sng" dirty="0">
                <a:solidFill>
                  <a:schemeClr val="tx1"/>
                </a:solidFill>
              </a:rPr>
              <a:t>donation_id </a:t>
            </a:r>
            <a:r>
              <a:rPr lang="en-US" sz="1400" dirty="0">
                <a:solidFill>
                  <a:schemeClr val="tx1"/>
                </a:solidFill>
              </a:rPr>
              <a:t>    (PK)</a:t>
            </a:r>
          </a:p>
          <a:p>
            <a:r>
              <a:rPr lang="en-US" sz="1400" dirty="0">
                <a:solidFill>
                  <a:schemeClr val="tx1"/>
                </a:solidFill>
              </a:rPr>
              <a:t>user_id             (FK)</a:t>
            </a:r>
          </a:p>
          <a:p>
            <a:r>
              <a:rPr lang="en-US" sz="1400" dirty="0">
                <a:solidFill>
                  <a:schemeClr val="tx1"/>
                </a:solidFill>
              </a:rPr>
              <a:t>project_id        (FK)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amount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donation_date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7573645" y="511687"/>
            <a:ext cx="1906904" cy="1604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r>
              <a:rPr lang="en-US" sz="1600" u="sng" dirty="0">
                <a:solidFill>
                  <a:schemeClr val="tx1"/>
                </a:solidFill>
              </a:rPr>
              <a:t>log_id 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r>
              <a:rPr lang="en-US" sz="1600" dirty="0">
                <a:solidFill>
                  <a:schemeClr val="tx1"/>
                </a:solidFill>
              </a:rPr>
              <a:t>user_id (FK)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activity_id</a:t>
            </a:r>
            <a:r>
              <a:rPr lang="en-US" sz="1600" dirty="0">
                <a:solidFill>
                  <a:schemeClr val="tx1"/>
                </a:solidFill>
              </a:rPr>
              <a:t> (FK)</a:t>
            </a:r>
          </a:p>
          <a:p>
            <a:r>
              <a:rPr lang="en-US" sz="1600" dirty="0">
                <a:solidFill>
                  <a:schemeClr val="tx1"/>
                </a:solidFill>
              </a:rPr>
              <a:t>q</a:t>
            </a:r>
            <a:r>
              <a:rPr lang="en-US" sz="1600">
                <a:solidFill>
                  <a:schemeClr val="tx1"/>
                </a:solidFill>
              </a:rPr>
              <a:t>uantity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>
                <a:solidFill>
                  <a:schemeClr val="tx1"/>
                </a:solidFill>
              </a:rPr>
              <a:t>Activity_date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6" name="Rectangles 15"/>
          <p:cNvSpPr/>
          <p:nvPr/>
        </p:nvSpPr>
        <p:spPr>
          <a:xfrm>
            <a:off x="7573645" y="2553970"/>
            <a:ext cx="1467485" cy="9925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CATEGORIES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sz="1400" u="sng" dirty="0" err="1">
                <a:solidFill>
                  <a:schemeClr val="tx1"/>
                </a:solidFill>
              </a:rPr>
              <a:t>category_id</a:t>
            </a:r>
            <a:r>
              <a:rPr lang="en-US" sz="1400" dirty="0">
                <a:solidFill>
                  <a:schemeClr val="tx1"/>
                </a:solidFill>
              </a:rPr>
              <a:t> (PK)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category_name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7651115" y="4048759"/>
            <a:ext cx="1467485" cy="17322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PROJECTS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u="sng" dirty="0">
                <a:solidFill>
                  <a:schemeClr val="tx1"/>
                </a:solidFill>
              </a:rPr>
              <a:t>project_id </a:t>
            </a:r>
            <a:r>
              <a:rPr lang="en-US" sz="1400" dirty="0">
                <a:solidFill>
                  <a:schemeClr val="tx1"/>
                </a:solidFill>
              </a:rPr>
              <a:t>     (PK)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project_name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category_id</a:t>
            </a:r>
            <a:r>
              <a:rPr lang="en-US" sz="1400" dirty="0">
                <a:solidFill>
                  <a:schemeClr val="tx1"/>
                </a:solidFill>
              </a:rPr>
              <a:t>   (FK)</a:t>
            </a:r>
          </a:p>
          <a:p>
            <a:r>
              <a:rPr lang="en-US" sz="1400" dirty="0">
                <a:solidFill>
                  <a:schemeClr val="tx1"/>
                </a:solidFill>
              </a:rPr>
              <a:t>description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0224770" y="711835"/>
            <a:ext cx="1481452" cy="18421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ACTIVITES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u="sng" dirty="0" err="1">
                <a:solidFill>
                  <a:schemeClr val="tx1"/>
                </a:solidFill>
              </a:rPr>
              <a:t>activity_id</a:t>
            </a:r>
            <a:r>
              <a:rPr lang="en-US" sz="1400" u="sng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   (PK)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activity_name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category_id</a:t>
            </a:r>
            <a:r>
              <a:rPr lang="en-US" sz="1400" dirty="0">
                <a:solidFill>
                  <a:schemeClr val="tx1"/>
                </a:solidFill>
              </a:rPr>
              <a:t>  (FK)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emission_factor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9876790" y="2881288"/>
            <a:ext cx="2267263" cy="18364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u="sng" dirty="0" err="1">
                <a:solidFill>
                  <a:schemeClr val="tx1"/>
                </a:solidFill>
              </a:rPr>
              <a:t>stat_id</a:t>
            </a:r>
            <a:r>
              <a:rPr lang="en-US" sz="1400" u="sng" dirty="0">
                <a:solidFill>
                  <a:schemeClr val="tx1"/>
                </a:solidFill>
              </a:rPr>
              <a:t>  </a:t>
            </a:r>
            <a:r>
              <a:rPr lang="en-US" sz="1400" dirty="0">
                <a:solidFill>
                  <a:schemeClr val="tx1"/>
                </a:solidFill>
              </a:rPr>
              <a:t>           (PK)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category_id</a:t>
            </a:r>
            <a:r>
              <a:rPr lang="en-US" sz="1400" dirty="0">
                <a:solidFill>
                  <a:schemeClr val="tx1"/>
                </a:solidFill>
              </a:rPr>
              <a:t>    (FK)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avg_emission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total_activites_logged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last_updated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9749790" y="4939665"/>
            <a:ext cx="2068830" cy="18243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PROJECT_IMPACT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r>
              <a:rPr lang="en-US" sz="1400" u="sng" dirty="0" err="1">
                <a:solidFill>
                  <a:schemeClr val="tx1"/>
                </a:solidFill>
              </a:rPr>
              <a:t>impact_id</a:t>
            </a:r>
            <a:r>
              <a:rPr lang="en-US" sz="1400" u="sng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        (PK)</a:t>
            </a:r>
          </a:p>
          <a:p>
            <a:r>
              <a:rPr lang="en-US" sz="1400" dirty="0">
                <a:solidFill>
                  <a:schemeClr val="tx1"/>
                </a:solidFill>
              </a:rPr>
              <a:t>project_id         (FK)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impact_description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CO2_saved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recorded_date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19099" y="513079"/>
            <a:ext cx="1534160" cy="283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/>
              <a:t>REWARDS</a:t>
            </a:r>
          </a:p>
          <a:p>
            <a:pPr algn="ctr"/>
            <a:r>
              <a:rPr lang="en-US" b="1" dirty="0"/>
              <a:t>        </a:t>
            </a:r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2694940" y="1107440"/>
            <a:ext cx="0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/>
        </p:nvCxnSpPr>
        <p:spPr>
          <a:xfrm>
            <a:off x="2468880" y="910883"/>
            <a:ext cx="1915159" cy="0"/>
          </a:xfrm>
          <a:prstGeom prst="line">
            <a:avLst/>
          </a:prstGeom>
          <a:ln w="19050" cap="rnd">
            <a:solidFill>
              <a:schemeClr val="accent1">
                <a:lumMod val="50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 flipH="1" flipV="1">
            <a:off x="298767" y="843914"/>
            <a:ext cx="1791017" cy="635"/>
          </a:xfrm>
          <a:prstGeom prst="line">
            <a:avLst/>
          </a:prstGeom>
          <a:ln w="19050" cap="rnd">
            <a:solidFill>
              <a:schemeClr val="accent1">
                <a:lumMod val="50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5318759" y="2895482"/>
            <a:ext cx="1538287" cy="0"/>
          </a:xfrm>
          <a:prstGeom prst="line">
            <a:avLst/>
          </a:prstGeom>
          <a:ln w="19050" cap="rnd">
            <a:solidFill>
              <a:schemeClr val="tx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 flipV="1">
            <a:off x="1369549" y="3209332"/>
            <a:ext cx="1825458" cy="8273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7582216" y="2868930"/>
            <a:ext cx="1450341" cy="0"/>
          </a:xfrm>
          <a:prstGeom prst="line">
            <a:avLst/>
          </a:prstGeom>
          <a:ln w="19050" cap="rnd">
            <a:solidFill>
              <a:schemeClr val="tx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2804159" y="4823023"/>
            <a:ext cx="146748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</p:cNvCxnSpPr>
          <p:nvPr/>
        </p:nvCxnSpPr>
        <p:spPr>
          <a:xfrm>
            <a:off x="5297806" y="4973002"/>
            <a:ext cx="172212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651115" y="4523105"/>
            <a:ext cx="1485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cxnSpLocks/>
          </p:cNvCxnSpPr>
          <p:nvPr/>
        </p:nvCxnSpPr>
        <p:spPr>
          <a:xfrm>
            <a:off x="9749790" y="5438576"/>
            <a:ext cx="206883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cxnSpLocks/>
          </p:cNvCxnSpPr>
          <p:nvPr/>
        </p:nvCxnSpPr>
        <p:spPr>
          <a:xfrm flipV="1">
            <a:off x="10220960" y="1038860"/>
            <a:ext cx="1471295" cy="6985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cxnSpLocks/>
          </p:cNvCxnSpPr>
          <p:nvPr/>
        </p:nvCxnSpPr>
        <p:spPr>
          <a:xfrm>
            <a:off x="7572691" y="785152"/>
            <a:ext cx="1908812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>
            <a:off x="9876789" y="3230880"/>
            <a:ext cx="226726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cxnSpLocks/>
          </p:cNvCxnSpPr>
          <p:nvPr/>
        </p:nvCxnSpPr>
        <p:spPr>
          <a:xfrm flipV="1">
            <a:off x="5074285" y="1342709"/>
            <a:ext cx="1572895" cy="9524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cxnSpLocks/>
          </p:cNvCxnSpPr>
          <p:nvPr/>
        </p:nvCxnSpPr>
        <p:spPr>
          <a:xfrm>
            <a:off x="306072" y="5281295"/>
            <a:ext cx="169163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F9E9745-9C39-A55C-AFC1-A0992B542183}"/>
              </a:ext>
            </a:extLst>
          </p:cNvPr>
          <p:cNvSpPr txBox="1"/>
          <p:nvPr/>
        </p:nvSpPr>
        <p:spPr>
          <a:xfrm>
            <a:off x="3004824" y="567004"/>
            <a:ext cx="802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GOALS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866C102-C4C7-E260-5641-CD11D7746167}"/>
              </a:ext>
            </a:extLst>
          </p:cNvPr>
          <p:cNvSpPr txBox="1"/>
          <p:nvPr/>
        </p:nvSpPr>
        <p:spPr>
          <a:xfrm>
            <a:off x="9954260" y="2876114"/>
            <a:ext cx="30187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CATEGORY_STATISTICS</a:t>
            </a:r>
          </a:p>
          <a:p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6AB07AA-A51A-7355-AAC4-9D8B5481F4CE}"/>
              </a:ext>
            </a:extLst>
          </p:cNvPr>
          <p:cNvSpPr txBox="1"/>
          <p:nvPr/>
        </p:nvSpPr>
        <p:spPr>
          <a:xfrm>
            <a:off x="587692" y="4823023"/>
            <a:ext cx="19183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REPORTS</a:t>
            </a:r>
          </a:p>
          <a:p>
            <a:endParaRPr lang="en-US" dirty="0"/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2DE7C298-FC47-1597-1F12-9B0DBCD7CFE1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V="1">
            <a:off x="-475935" y="1917510"/>
            <a:ext cx="2651760" cy="1134740"/>
          </a:xfrm>
          <a:prstGeom prst="bentConnector4">
            <a:avLst>
              <a:gd name="adj1" fmla="val 300"/>
              <a:gd name="adj2" fmla="val 12014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D1154B1C-BAE6-F94C-4CA1-B66061911AE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195007" y="3399185"/>
            <a:ext cx="2083112" cy="306670"/>
          </a:xfrm>
          <a:prstGeom prst="bentConnector3">
            <a:avLst/>
          </a:prstGeom>
          <a:ln w="12700">
            <a:solidFill>
              <a:schemeClr val="dk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9F80E0CC-F5EF-823B-8E6D-C5198BB62DF1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997709" y="3353754"/>
            <a:ext cx="3328416" cy="2370769"/>
          </a:xfrm>
          <a:prstGeom prst="bentConnector3">
            <a:avLst>
              <a:gd name="adj1" fmla="val 9080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14A7540B-8392-A2B0-F081-31F9ED168ED6}"/>
              </a:ext>
            </a:extLst>
          </p:cNvPr>
          <p:cNvCxnSpPr>
            <a:stCxn id="10" idx="1"/>
          </p:cNvCxnSpPr>
          <p:nvPr/>
        </p:nvCxnSpPr>
        <p:spPr>
          <a:xfrm rot="10800000" flipV="1">
            <a:off x="1979294" y="5090636"/>
            <a:ext cx="806450" cy="4597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D93175E6-5828-4C4C-F410-0D8F31EEFE38}"/>
              </a:ext>
            </a:extLst>
          </p:cNvPr>
          <p:cNvCxnSpPr>
            <a:cxnSpLocks/>
          </p:cNvCxnSpPr>
          <p:nvPr/>
        </p:nvCxnSpPr>
        <p:spPr>
          <a:xfrm flipV="1">
            <a:off x="4246572" y="1098547"/>
            <a:ext cx="91440" cy="4206240"/>
          </a:xfrm>
          <a:prstGeom prst="bentConnector3">
            <a:avLst>
              <a:gd name="adj1" fmla="val 30339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3214059F-72CA-E27A-77D3-AAB62CB11A7F}"/>
              </a:ext>
            </a:extLst>
          </p:cNvPr>
          <p:cNvCxnSpPr>
            <a:cxnSpLocks/>
            <a:stCxn id="13" idx="1"/>
            <a:endCxn id="12" idx="1"/>
          </p:cNvCxnSpPr>
          <p:nvPr/>
        </p:nvCxnSpPr>
        <p:spPr>
          <a:xfrm rot="10800000" flipH="1">
            <a:off x="5297805" y="3419474"/>
            <a:ext cx="20635" cy="2062165"/>
          </a:xfrm>
          <a:prstGeom prst="bentConnector3">
            <a:avLst>
              <a:gd name="adj1" fmla="val -110782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9440F336-12F8-327D-05DB-F36A6168225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50695" y="1447020"/>
            <a:ext cx="731520" cy="1828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E2362A23-F437-2749-C019-3400CC9BCB59}"/>
              </a:ext>
            </a:extLst>
          </p:cNvPr>
          <p:cNvCxnSpPr>
            <a:cxnSpLocks/>
          </p:cNvCxnSpPr>
          <p:nvPr/>
        </p:nvCxnSpPr>
        <p:spPr>
          <a:xfrm>
            <a:off x="4363402" y="1352233"/>
            <a:ext cx="950976" cy="18288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A5AB7EC5-70DF-3996-6701-F5D3108FF7FE}"/>
              </a:ext>
            </a:extLst>
          </p:cNvPr>
          <p:cNvCxnSpPr>
            <a:stCxn id="11" idx="3"/>
          </p:cNvCxnSpPr>
          <p:nvPr/>
        </p:nvCxnSpPr>
        <p:spPr>
          <a:xfrm flipV="1">
            <a:off x="6647180" y="1159000"/>
            <a:ext cx="920750" cy="46501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023D6EA7-556C-FAAA-B4F8-84C30E8C9C9F}"/>
              </a:ext>
            </a:extLst>
          </p:cNvPr>
          <p:cNvCxnSpPr>
            <a:cxnSpLocks/>
          </p:cNvCxnSpPr>
          <p:nvPr/>
        </p:nvCxnSpPr>
        <p:spPr>
          <a:xfrm flipV="1">
            <a:off x="7038341" y="4824568"/>
            <a:ext cx="631189" cy="9144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Connector: Elbow 231">
            <a:extLst>
              <a:ext uri="{FF2B5EF4-FFF2-40B4-BE49-F238E27FC236}">
                <a16:creationId xmlns:a16="http://schemas.microsoft.com/office/drawing/2014/main" id="{92B5930E-25A4-DC94-2CBD-26DAA445E484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13525" y="4205289"/>
            <a:ext cx="2011680" cy="91440"/>
          </a:xfrm>
          <a:prstGeom prst="bentConnector4">
            <a:avLst>
              <a:gd name="adj1" fmla="val -804"/>
              <a:gd name="adj2" fmla="val 39508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EB761250-A68A-4103-CFD7-B3BD2ED554DB}"/>
              </a:ext>
            </a:extLst>
          </p:cNvPr>
          <p:cNvCxnSpPr>
            <a:stCxn id="20" idx="1"/>
            <a:endCxn id="17" idx="3"/>
          </p:cNvCxnSpPr>
          <p:nvPr/>
        </p:nvCxnSpPr>
        <p:spPr>
          <a:xfrm rot="10800000">
            <a:off x="9118600" y="4914899"/>
            <a:ext cx="631190" cy="9369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: Elbow 236">
            <a:extLst>
              <a:ext uri="{FF2B5EF4-FFF2-40B4-BE49-F238E27FC236}">
                <a16:creationId xmlns:a16="http://schemas.microsoft.com/office/drawing/2014/main" id="{BB2C5C7A-6674-EEE1-A887-5DAF3AC21282}"/>
              </a:ext>
            </a:extLst>
          </p:cNvPr>
          <p:cNvCxnSpPr>
            <a:cxnSpLocks/>
          </p:cNvCxnSpPr>
          <p:nvPr/>
        </p:nvCxnSpPr>
        <p:spPr>
          <a:xfrm rot="10800000">
            <a:off x="9054778" y="3111817"/>
            <a:ext cx="835660" cy="45720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70526037-EC99-EF46-22E9-42D8E0B133B4}"/>
              </a:ext>
            </a:extLst>
          </p:cNvPr>
          <p:cNvCxnSpPr>
            <a:cxnSpLocks/>
            <a:stCxn id="18" idx="1"/>
            <a:endCxn id="16" idx="3"/>
          </p:cNvCxnSpPr>
          <p:nvPr/>
        </p:nvCxnSpPr>
        <p:spPr>
          <a:xfrm rot="10800000" flipV="1">
            <a:off x="9036050" y="1770063"/>
            <a:ext cx="1188720" cy="12801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E993C45D-E427-56B9-CC0B-B4043A8D8961}"/>
              </a:ext>
            </a:extLst>
          </p:cNvPr>
          <p:cNvCxnSpPr/>
          <p:nvPr/>
        </p:nvCxnSpPr>
        <p:spPr>
          <a:xfrm flipV="1">
            <a:off x="9472608" y="1304290"/>
            <a:ext cx="748352" cy="36576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9BA930A-3822-CE4C-5601-9AA1CF87B03B}"/>
              </a:ext>
            </a:extLst>
          </p:cNvPr>
          <p:cNvSpPr txBox="1"/>
          <p:nvPr/>
        </p:nvSpPr>
        <p:spPr>
          <a:xfrm>
            <a:off x="7665086" y="499109"/>
            <a:ext cx="1906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USER_ACTIVITIES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277</Words>
  <Application>Microsoft Office PowerPoint</Application>
  <PresentationFormat>Widescreen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Namira</dc:creator>
  <cp:lastModifiedBy>Lab4PC</cp:lastModifiedBy>
  <cp:revision>22</cp:revision>
  <dcterms:created xsi:type="dcterms:W3CDTF">2025-07-23T00:59:00Z</dcterms:created>
  <dcterms:modified xsi:type="dcterms:W3CDTF">2025-10-15T07:18:41Z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0071B282B4DC45F0BA8B3907455C2A1C_13</vt:lpwstr>
  </property>
  <property fmtid="{D5CDD505-2E9C-101B-9397-08002B2CF9AE}" pid="3" name="KSOProductBuildVer">
    <vt:lpwstr>1033-12.2.0.23131</vt:lpwstr>
  </property>
</Properties>
</file>